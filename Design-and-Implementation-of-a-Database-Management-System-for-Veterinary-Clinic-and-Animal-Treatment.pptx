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Lora"/>
      <p:regular r:id="rId201314"/>
    </p:embeddedFont>
    <p:embeddedFont>
      <p:font typeface="Lora Bold"/>
      <p:regular r:id="rId201315"/>
    </p:embeddedFont>
    <p:embeddedFont>
      <p:font typeface="Source Sans 3"/>
      <p:regular r:id="rId201316"/>
    </p:embeddedFont>
    <p:embeddedFont>
      <p:font typeface="Source Sans 3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EF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3.png"/><Relationship Id="rId6" Type="http://schemas.openxmlformats.org/officeDocument/2006/relationships/image" Target="../media/image-4-4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image" Target="../media/image-8-1.png"/><Relationship Id="rId10" Type="http://schemas.openxmlformats.org/officeDocument/2006/relationships/image" Target="../media/image-8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086907"/>
            <a:ext cx="6223638" cy="2933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 and Implementation of a Database Management System for Veterinary Clinic and Animal Treatment Management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4294684"/>
            <a:ext cx="6223638" cy="150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Problem Identification · Conceptual Design (ER Diagram) · Initial Relational Schema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Student: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Surya Siddharath  | 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Reg. No: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25WU0102280  | 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Course: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Database Management Systems  | 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Review 1 · Week 7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823655"/>
            <a:ext cx="6223638" cy="49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 Statement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5269971" y="1671807"/>
            <a:ext cx="290505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8512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Current Challenge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269971" y="2054523"/>
            <a:ext cx="2905052" cy="1254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Veterinary clinics relay on </a:t>
            </a:r>
            <a:pPr algn="l" indent="0" marL="0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scattered paper registers</a:t>
            </a:r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disconnected spreadsheets</a:t>
            </a:r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manage owners, animals, appointments, and treatment history - creating costly gaps in care.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269971" y="3463896"/>
            <a:ext cx="290505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8512F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Recurring Problems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269971" y="3846612"/>
            <a:ext cx="2905052" cy="2158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Incomplete or lost medical history for an animal across visits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Vaccination due-dates missed  nothing tracks them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Veterinarians double-booked for overlapping appointments</a:t>
            </a:r>
            <a:endParaRPr lang="en-US" sz="1300" dirty="0"/>
          </a:p>
          <a:p>
            <a:pPr algn="l" marL="264160" indent="-264160">
              <a:lnSpc>
                <a:spcPct val="123000"/>
              </a:lnSpc>
              <a:buSzPct val="100000"/>
              <a:buChar char="•"/>
            </a:pPr>
            <a:r>
              <a:rPr lang="en-US" sz="13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Billing errors from manually totaling consultations, tests &amp; prescriptions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72871" y="1517055"/>
            <a:ext cx="3149124" cy="4538563"/>
          </a:xfrm>
          <a:prstGeom prst="roundRect">
            <a:avLst>
              <a:gd name="adj" fmla="val 808"/>
            </a:avLst>
          </a:prstGeom>
          <a:solidFill>
            <a:srgbClr val="17A2B8"/>
          </a:solidFill>
          <a:ln/>
        </p:spPr>
      </p:sp>
      <p:sp>
        <p:nvSpPr>
          <p:cNvPr id="9" name="Text 6"/>
          <p:cNvSpPr/>
          <p:nvPr/>
        </p:nvSpPr>
        <p:spPr>
          <a:xfrm>
            <a:off x="8642332" y="1671807"/>
            <a:ext cx="2810202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Solution Goal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642332" y="2054523"/>
            <a:ext cx="2810202" cy="2387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Build a </a:t>
            </a:r>
            <a:pPr algn="l" indent="0" marL="0">
              <a:lnSpc>
                <a:spcPct val="123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centralized relational database</a:t>
            </a:r>
            <a:pPr algn="l" indent="0" marL="0">
              <a:lnSpc>
                <a:spcPct val="123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storing every owner, animal, appointment, vaccination, diagnosis, treatment, prescription, test, and bill  </a:t>
            </a:r>
            <a:pPr algn="l" indent="0" marL="0">
              <a:lnSpc>
                <a:spcPct val="123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one reliable source of truth.</a:t>
            </a:r>
            <a:endParaRPr lang="en-US" sz="13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small Java/Python front-end will let staff register animals, book appointments, log treatments, and generate reports.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42306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Scope &amp; Objectives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383929"/>
            <a:ext cx="10795524" cy="3075682"/>
          </a:xfrm>
          <a:prstGeom prst="roundRect">
            <a:avLst>
              <a:gd name="adj" fmla="val 973"/>
            </a:avLst>
          </a:prstGeom>
          <a:solidFill>
            <a:srgbClr val="F3E7D4"/>
          </a:solidFill>
          <a:ln/>
        </p:spPr>
      </p:sp>
      <p:sp>
        <p:nvSpPr>
          <p:cNvPr id="4" name="Shape 2"/>
          <p:cNvSpPr/>
          <p:nvPr/>
        </p:nvSpPr>
        <p:spPr>
          <a:xfrm>
            <a:off x="698086" y="2383929"/>
            <a:ext cx="5397762" cy="3075682"/>
          </a:xfrm>
          <a:custGeom>
            <a:avLst/>
            <a:gdLst/>
            <a:ahLst/>
            <a:cxnLst/>
            <a:rect l="l" t="t" r="r" b="b"/>
            <a:pathLst>
              <a:path w="5397762" h="3075682">
                <a:moveTo>
                  <a:pt x="24935" y="0"/>
                </a:moveTo>
                <a:lnTo>
                  <a:pt x="5397762" y="0"/>
                </a:lnTo>
                <a:lnTo>
                  <a:pt x="5397762" y="3075682"/>
                </a:lnTo>
                <a:lnTo>
                  <a:pt x="24935" y="3075682"/>
                </a:lnTo>
                <a:arcTo hR="24935" wR="24935" stAng="5400000" swAng="5400000"/>
                <a:lnTo>
                  <a:pt x="0" y="24935"/>
                </a:lnTo>
                <a:arcTo hR="24935" wR="24935" stAng="10800000" swAng="5400000"/>
                <a:close/>
              </a:path>
            </a:pathLst>
          </a:custGeom>
          <a:solidFill>
            <a:srgbClr val="F3E7D4"/>
          </a:solidFill>
          <a:ln/>
        </p:spPr>
      </p:sp>
      <p:sp>
        <p:nvSpPr>
          <p:cNvPr id="5" name="Text 3"/>
          <p:cNvSpPr/>
          <p:nvPr/>
        </p:nvSpPr>
        <p:spPr>
          <a:xfrm>
            <a:off x="897510" y="2583359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800" b="1" u="sng" dirty="0">
                <a:solidFill>
                  <a:srgbClr val="3A3630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In Scope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7510" y="2996307"/>
            <a:ext cx="4998912" cy="2263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Owner &amp; animal registration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Appointment scheduling per veterinarian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Consultation, diagnosis &amp; treatment records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Vaccination tracking with due dates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Prescriptions &amp; lab tests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Billing and payments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095848" y="2383929"/>
            <a:ext cx="5397762" cy="3075682"/>
          </a:xfrm>
          <a:custGeom>
            <a:avLst/>
            <a:gdLst/>
            <a:ahLst/>
            <a:cxnLst/>
            <a:rect l="l" t="t" r="r" b="b"/>
            <a:pathLst>
              <a:path w="5397762" h="3075682">
                <a:moveTo>
                  <a:pt x="0" y="0"/>
                </a:moveTo>
                <a:lnTo>
                  <a:pt x="5372827" y="0"/>
                </a:lnTo>
                <a:arcTo hR="24935" wR="24935" stAng="16200000" swAng="5400000"/>
                <a:lnTo>
                  <a:pt x="5397762" y="3050747"/>
                </a:lnTo>
                <a:arcTo hR="24935" wR="24935" stAng="0" swAng="5400000"/>
                <a:lnTo>
                  <a:pt x="0" y="3075682"/>
                </a:lnTo>
                <a:lnTo>
                  <a:pt x="0" y="0"/>
                </a:lnTo>
                <a:close/>
              </a:path>
            </a:pathLst>
          </a:custGeom>
          <a:solidFill>
            <a:srgbClr val="F3E7D4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2383929"/>
            <a:ext cx="25399" cy="3075682"/>
          </a:xfrm>
          <a:prstGeom prst="roundRect">
            <a:avLst>
              <a:gd name="adj" fmla="val 50001"/>
            </a:avLst>
          </a:prstGeom>
          <a:solidFill>
            <a:srgbClr val="D9CDBA"/>
          </a:solidFill>
          <a:ln/>
        </p:spPr>
      </p:sp>
      <p:sp>
        <p:nvSpPr>
          <p:cNvPr id="9" name="Text 7"/>
          <p:cNvSpPr/>
          <p:nvPr/>
        </p:nvSpPr>
        <p:spPr>
          <a:xfrm>
            <a:off x="6295272" y="2583359"/>
            <a:ext cx="499891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pPr algn="l" indent="0" marL="0">
              <a:lnSpc>
                <a:spcPct val="104000"/>
              </a:lnSpc>
              <a:buNone/>
            </a:pPr>
            <a:r>
              <a:rPr lang="en-US" sz="1800" b="1" u="sng" dirty="0">
                <a:solidFill>
                  <a:srgbClr val="3A3630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Key Objectives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95272" y="2996307"/>
            <a:ext cx="4998912" cy="148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Maintain complete per-animal medical history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Prevent scheduling conflicts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 vaccination due-dates automatically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 accurate, auditable bills and clinic reports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12836"/>
            <a:ext cx="10795524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Users &amp; Functional Requirements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8086" y="1631329"/>
            <a:ext cx="517879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Users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066925"/>
            <a:ext cx="5178792" cy="13808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4565" y="2271812"/>
            <a:ext cx="4667431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Receptionist / Admin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004565" y="2697361"/>
            <a:ext cx="4667431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Registers owners &amp; animals, books appointments, handles billing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3609280"/>
            <a:ext cx="5178792" cy="1108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4565" y="3814167"/>
            <a:ext cx="4667431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Veterinarian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004565" y="4239716"/>
            <a:ext cx="4667431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Records consultations, diagnoses, treatments &amp; prescriptions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4878884"/>
            <a:ext cx="5178792" cy="11080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4565" y="5083770"/>
            <a:ext cx="4667431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Clinic Manager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004565" y="5509320"/>
            <a:ext cx="4667431" cy="272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Views reports — revenue, schedules, outstanding bills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321168" y="1631329"/>
            <a:ext cx="5178792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Functional Requirements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6321168" y="2046684"/>
            <a:ext cx="5178792" cy="2577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Register owners and their animals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 &amp; manage vet appointments (no overlaps)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Record consultations &amp; diagnoses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 vaccinations with next-due date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Issue prescriptions and order lab tests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 bills from consultations/tests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 full history for any animal</a:t>
            </a:r>
            <a:endParaRPr lang="en-US" sz="1400" dirty="0"/>
          </a:p>
          <a:p>
            <a:pPr algn="l" marL="284480" indent="-284480">
              <a:lnSpc>
                <a:spcPct val="127000"/>
              </a:lnSpc>
              <a:buSzPct val="100000"/>
              <a:buChar char="•"/>
            </a:pPr>
            <a:r>
              <a:rPr lang="en-US" sz="1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Produce reports on schedules, dues, revenue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83575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Conceptual Design: Core Entities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98086" y="1575197"/>
            <a:ext cx="11405108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14 Entities Modeled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organized across three functional groups: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073275"/>
            <a:ext cx="473758" cy="4737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96866" y="2073275"/>
            <a:ext cx="274968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Registration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396866" y="2459831"/>
            <a:ext cx="2749680" cy="13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Owner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Animal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Species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Breed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1568" y="2073275"/>
            <a:ext cx="473758" cy="4737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0348" y="2073275"/>
            <a:ext cx="274968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Clinical Records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5070348" y="2459831"/>
            <a:ext cx="2749680" cy="2805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Veterinarian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Appointment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Consultation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Diagnosis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Treatment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Prescription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Vaccination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5050" y="2073275"/>
            <a:ext cx="473758" cy="4737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43830" y="2073275"/>
            <a:ext cx="274977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Billing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8743830" y="2459831"/>
            <a:ext cx="2749779" cy="654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Bill</a:t>
            </a:r>
            <a:endParaRPr lang="en-US" sz="1450" dirty="0"/>
          </a:p>
          <a:p>
            <a:pPr algn="l" marL="294640" indent="-294640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Payment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98086" y="5467945"/>
            <a:ext cx="10795524" cy="732234"/>
          </a:xfrm>
          <a:prstGeom prst="roundRect">
            <a:avLst>
              <a:gd name="adj" fmla="val 3882"/>
            </a:avLst>
          </a:prstGeom>
          <a:solidFill>
            <a:srgbClr val="E2ECD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589" y="5726212"/>
            <a:ext cx="236829" cy="1895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13921" y="5695255"/>
            <a:ext cx="10599770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Backbone Flow: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Owner → Animal → Appointment → Consultation → Diagnosis/Treatment/Prescription/Test → Bill → Payment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7896"/>
            <a:ext cx="10795524" cy="418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Entity-Relationship Diagram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232396"/>
            <a:ext cx="4963195" cy="49633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75528" y="2121430"/>
            <a:ext cx="522443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Relationships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275528" y="2423517"/>
            <a:ext cx="5224431" cy="295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Owner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1..M owns 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Animal</a:t>
            </a:r>
            <a:endParaRPr lang="en-US" sz="1100" dirty="0"/>
          </a:p>
          <a:p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Animal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M..1 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Species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| 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Animal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M..1 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Breed</a:t>
            </a:r>
            <a:endParaRPr lang="en-US" sz="1100" dirty="0"/>
          </a:p>
          <a:p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Species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1..M has 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Breed</a:t>
            </a:r>
            <a:endParaRPr lang="en-US" sz="1100" dirty="0"/>
          </a:p>
          <a:p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Animal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1..M booked for 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Appointment</a:t>
            </a:r>
            <a:endParaRPr lang="en-US" sz="1100" dirty="0"/>
          </a:p>
          <a:p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Veterinarian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1..M attends 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Appointment</a:t>
            </a:r>
            <a:endParaRPr lang="en-US" sz="1100" dirty="0"/>
          </a:p>
          <a:p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Appointment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1..1 results in 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Consultation</a:t>
            </a:r>
            <a:endParaRPr lang="en-US" sz="1100" dirty="0"/>
          </a:p>
          <a:p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Consultation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1..M yields 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Diagnosis</a:t>
            </a:r>
            <a:endParaRPr lang="en-US" sz="1100" dirty="0"/>
          </a:p>
          <a:p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Diagnosis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1..M leads to 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Treatment</a:t>
            </a:r>
            <a:endParaRPr lang="en-US" sz="1100" dirty="0"/>
          </a:p>
          <a:p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Consultation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1..M issues 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Prescription</a:t>
            </a:r>
            <a:endParaRPr lang="en-US" sz="1100" dirty="0"/>
          </a:p>
          <a:p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Consultation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1..M orders 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Test</a:t>
            </a:r>
            <a:endParaRPr lang="en-US" sz="1100" dirty="0"/>
          </a:p>
          <a:p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Animal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1..M receives 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Vaccination</a:t>
            </a:r>
            <a:endParaRPr lang="en-US" sz="1100" dirty="0"/>
          </a:p>
          <a:p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Consultation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1..1 generates 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Bill</a:t>
            </a:r>
            <a:endParaRPr lang="en-US" sz="1100" dirty="0"/>
          </a:p>
          <a:p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Bill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1..M settled by 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Payment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2808"/>
            <a:ext cx="10795524" cy="404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Initial Relational Schema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98086" y="1190129"/>
            <a:ext cx="11405108" cy="18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Table structure with Primary Keys and Foreign Keys for all 14 entities: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1482229"/>
          <a:ext cx="10795524" cy="914400"/>
        </p:xfrm>
        <a:graphic>
          <a:graphicData uri="http://schemas.openxmlformats.org/drawingml/2006/table">
            <a:tbl>
              <a:tblPr/>
              <a:tblGrid>
                <a:gridCol w="3022735"/>
                <a:gridCol w="2590930"/>
                <a:gridCol w="5181859"/>
              </a:tblGrid>
              <a:tr h="3150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Table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A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Primary Key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17A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A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72525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Foreign Key(s)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17A2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B8"/>
                    </a:solidFill>
                  </a:tcPr>
                </a:tc>
              </a:tr>
              <a:tr h="3181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Owner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owner_id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—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1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Animal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animal_id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owner_id, species_id, breed_id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1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Species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species_id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—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1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Breed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breed_id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species_id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1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Veterinarian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vet_id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—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1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Appointment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appointment_id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animal_id, vet_id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1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Consultation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consultation_id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appointment_id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1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Diagnosis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diagnosis_id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consultation_id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1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Treatment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treatment_id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diagnosis_id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1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Prescription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prescription_id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consultation_id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1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Vaccination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vaccination_id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animal_id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1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Test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test_id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consultation_id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1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Bill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bill_id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consultation_id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0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Payment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payment_id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630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bill_id</a:t>
                      </a:r>
                      <a:endParaRPr lang="en-US" sz="10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37454" marR="137454" marT="6350" marB="6350" anchor="ctr">
                    <a:lnL w="12700" cap="flat" cmpd="sng" algn="ctr">
                      <a:solidFill>
                        <a:srgbClr val="FEF5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CD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7571"/>
            <a:ext cx="10795524" cy="447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Business Rules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255216"/>
            <a:ext cx="10795524" cy="912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7234" y="1568946"/>
            <a:ext cx="228098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41414" y="1426369"/>
            <a:ext cx="9881047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Unique Animal Identity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441414" y="1719659"/>
            <a:ext cx="9881047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owner cannot register the same animal twice — enforced via a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uniqueness constraint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283718"/>
            <a:ext cx="10795524" cy="9126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7234" y="2597448"/>
            <a:ext cx="228098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441414" y="2454870"/>
            <a:ext cx="9881047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Overlapping Appointments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441414" y="2748161"/>
            <a:ext cx="9881047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vet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cannot be double-booked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two appointments at the same time slot.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312220"/>
            <a:ext cx="10795524" cy="9126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7234" y="3625949"/>
            <a:ext cx="228098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441414" y="3483372"/>
            <a:ext cx="9881047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Valid Vaccination Dates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441414" y="3776662"/>
            <a:ext cx="9881047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Vaccination date cannot be in the future beyond entry;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next-due date must follow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given date.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340721"/>
            <a:ext cx="10795524" cy="91261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07234" y="4654451"/>
            <a:ext cx="228098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1441414" y="4511873"/>
            <a:ext cx="9881047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Positive Dosages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441414" y="4805164"/>
            <a:ext cx="9881047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Dosage values in prescriptions/vaccinations must be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greater than zero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(CHECK constraint).</a:t>
            </a:r>
            <a:endParaRPr lang="en-US" sz="11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086" y="5369223"/>
            <a:ext cx="10795524" cy="91261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07234" y="5682952"/>
            <a:ext cx="228098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1441414" y="5540375"/>
            <a:ext cx="9881047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Payment Limits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441414" y="5833666"/>
            <a:ext cx="9881047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payments recorded against a bill </a:t>
            </a:r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cannot exceed the bill amount</a:t>
            </a:r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30641"/>
            <a:ext cx="10795524" cy="51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Project Timeline &amp; Milestones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424087"/>
            <a:ext cx="11405108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3-Part DBMS Project-Based Learning Course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086323" y="1855093"/>
            <a:ext cx="19050" cy="3327102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5" name="Shape 3"/>
          <p:cNvSpPr/>
          <p:nvPr/>
        </p:nvSpPr>
        <p:spPr>
          <a:xfrm>
            <a:off x="5397563" y="2041227"/>
            <a:ext cx="521679" cy="19050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6" name="Shape 4"/>
          <p:cNvSpPr/>
          <p:nvPr/>
        </p:nvSpPr>
        <p:spPr>
          <a:xfrm>
            <a:off x="5900193" y="1855093"/>
            <a:ext cx="391309" cy="391319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5973117" y="1897311"/>
            <a:ext cx="245461" cy="306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98086" y="1914823"/>
            <a:ext cx="4528230" cy="25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Week 7 — Review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8086" y="2261493"/>
            <a:ext cx="4528230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Problem statement · ER diagram · Initial relational schema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2452" y="3040063"/>
            <a:ext cx="521679" cy="19050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11" name="Shape 9"/>
          <p:cNvSpPr/>
          <p:nvPr/>
        </p:nvSpPr>
        <p:spPr>
          <a:xfrm>
            <a:off x="5900193" y="2853928"/>
            <a:ext cx="391309" cy="391319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</p:sp>
      <p:sp>
        <p:nvSpPr>
          <p:cNvPr id="12" name="Text 10"/>
          <p:cNvSpPr/>
          <p:nvPr/>
        </p:nvSpPr>
        <p:spPr>
          <a:xfrm>
            <a:off x="5973117" y="2896146"/>
            <a:ext cx="245461" cy="306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965379" y="2913658"/>
            <a:ext cx="4528230" cy="25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Week 11 — Review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65379" y="3260328"/>
            <a:ext cx="4528230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3NF normalization · DDL with constraints · Sample data &amp; SQL queries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397563" y="3917156"/>
            <a:ext cx="521679" cy="19050"/>
          </a:xfrm>
          <a:prstGeom prst="roundRect">
            <a:avLst>
              <a:gd name="adj" fmla="val 49999"/>
            </a:avLst>
          </a:prstGeom>
          <a:solidFill>
            <a:srgbClr val="D9CDB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00193" y="3731022"/>
            <a:ext cx="391309" cy="391319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</p:sp>
      <p:sp>
        <p:nvSpPr>
          <p:cNvPr id="17" name="Text 15"/>
          <p:cNvSpPr/>
          <p:nvPr/>
        </p:nvSpPr>
        <p:spPr>
          <a:xfrm>
            <a:off x="5973117" y="3773239"/>
            <a:ext cx="245461" cy="306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98086" y="3790752"/>
            <a:ext cx="4528230" cy="25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Week 16 — Review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8086" y="4137422"/>
            <a:ext cx="4528230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Java/Python application · Final demo · Report &amp; viva-voce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98086" y="5352752"/>
            <a:ext cx="10795524" cy="895846"/>
          </a:xfrm>
          <a:prstGeom prst="roundRect">
            <a:avLst>
              <a:gd name="adj" fmla="val 2912"/>
            </a:avLst>
          </a:prstGeom>
          <a:solidFill>
            <a:srgbClr val="B6FCB8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913" y="5573514"/>
            <a:ext cx="217383" cy="17383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63122" y="5547816"/>
            <a:ext cx="10056660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Review 1 Status: Complete 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Problem scope defined, 14 entities modeled, ER diagram drawn, and initial schema drafted ahead of normalization in Review 2.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2026-10-07T09:46:23Z</dcterms:created>
  <dcterms:modified xsi:type="dcterms:W3CDTF">2026-10-07T09:46:23Z</dcterms:modified>
</cp:coreProperties>
</file>