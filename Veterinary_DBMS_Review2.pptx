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280160"/>
            <a:ext cx="3840480" cy="3840480"/>
          </a:xfrm>
          <a:prstGeom prst="ellipse">
            <a:avLst/>
          </a:prstGeom>
          <a:solidFill>
            <a:srgbClr val="2B6E62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846320"/>
            <a:ext cx="3291840" cy="3291840"/>
          </a:xfrm>
          <a:prstGeom prst="ellipse">
            <a:avLst/>
          </a:prstGeom>
          <a:solidFill>
            <a:srgbClr val="2B6E6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A8D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PROJECT-BASED LEARNING  ·  REVIEW 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102412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Normalized Database Design &amp; SQL</a:t>
            </a:r>
            <a:endParaRPr lang="en-US" sz="3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— Veterinary Clinic and</a:t>
            </a:r>
            <a:endParaRPr lang="en-US" sz="3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Animal Treatment Management System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22960" y="397764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4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3NF Normalization  ·  DDL with Integrity Constraints  ·  Sample Data &amp; SQL Queries  ·  Views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709160"/>
            <a:ext cx="2011680" cy="0"/>
          </a:xfrm>
          <a:prstGeom prst="line">
            <a:avLst/>
          </a:prstGeom>
          <a:noFill/>
          <a:ln w="31750">
            <a:solidFill>
              <a:srgbClr val="E8A3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937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Name:  </a:t>
            </a:r>
            <a:pPr indent="0" marL="0">
              <a:buNone/>
            </a:pPr>
            <a:r>
              <a:rPr lang="en-US" sz="1300" dirty="0">
                <a:solidFill>
                  <a:srgbClr val="A8D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Name]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5257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Reg. No / Roll No:  </a:t>
            </a:r>
            <a:pPr indent="0" marL="0">
              <a:buNone/>
            </a:pPr>
            <a:r>
              <a:rPr lang="en-US" sz="1300" dirty="0">
                <a:solidFill>
                  <a:srgbClr val="A8D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Reg. No.]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5577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 </a:t>
            </a:r>
            <a:pPr indent="0" marL="0">
              <a:buNone/>
            </a:pPr>
            <a:r>
              <a:rPr lang="en-US" sz="1300" dirty="0">
                <a:solidFill>
                  <a:srgbClr val="A8D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Management Systems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58978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  ·  Week 11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C9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&amp; 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Review 1 to Review 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49240" cy="4663440"/>
          </a:xfrm>
          <a:prstGeom prst="roundRect">
            <a:avLst>
              <a:gd name="adj" fmla="val 2353"/>
            </a:avLst>
          </a:prstGeom>
          <a:solidFill>
            <a:srgbClr val="E4F2EE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916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2B6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RECAP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6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21488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statement, scope &amp; objectives defined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68680" y="2715768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6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271576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core entities identified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68680" y="3282696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6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88720" y="328269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 modeled with relationships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68680" y="3849624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6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88720" y="384962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(unnormalized) relational schema drafted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26480" y="1463040"/>
            <a:ext cx="5349240" cy="4663440"/>
          </a:xfrm>
          <a:prstGeom prst="roundRect">
            <a:avLst>
              <a:gd name="adj" fmla="val 2353"/>
            </a:avLst>
          </a:prstGeom>
          <a:solidFill>
            <a:srgbClr val="0B3B36"/>
          </a:solidFill>
          <a:ln/>
        </p:spPr>
      </p:sp>
      <p:sp>
        <p:nvSpPr>
          <p:cNvPr id="15" name="Text 13"/>
          <p:cNvSpPr/>
          <p:nvPr/>
        </p:nvSpPr>
        <p:spPr>
          <a:xfrm>
            <a:off x="6446520" y="16916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 AGENDA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46520" y="214884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766560" y="21488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the schema to 3NF + functional dependencies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46520" y="2715768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766560" y="271576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Concise data dictionary for every table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46520" y="3282696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766560" y="328269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 scripts enforcing all 5 business rules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46520" y="3849624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766560" y="384962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 + SQL: joins, subqueries, aggregation, views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C9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WORKED EXAMPLE FROM OUR OWN SCHEMA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Normalizing to 3NF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E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Review 1 draft, the Animal table stored both breed_id and species_id directly — but Breed already determines Species. That's a transitive dependency, which 3NF forbids.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4937760" cy="3977640"/>
          </a:xfrm>
          <a:prstGeom prst="roundRect">
            <a:avLst>
              <a:gd name="adj" fmla="val 2299"/>
            </a:avLst>
          </a:prstGeom>
          <a:solidFill>
            <a:srgbClr val="F3E3E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39572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(Review 1 draft) — violates 3NF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2788920"/>
            <a:ext cx="4480560" cy="3291840"/>
          </a:xfrm>
          <a:prstGeom prst="roundRect">
            <a:avLst>
              <a:gd name="adj" fmla="val 2222"/>
            </a:avLst>
          </a:prstGeom>
          <a:solidFill>
            <a:srgbClr val="0B3B36"/>
          </a:solidFill>
          <a:ln/>
        </p:spPr>
      </p:sp>
      <p:sp>
        <p:nvSpPr>
          <p:cNvPr id="8" name="Text 6"/>
          <p:cNvSpPr/>
          <p:nvPr/>
        </p:nvSpPr>
        <p:spPr>
          <a:xfrm>
            <a:off x="1024128" y="2926080"/>
            <a:ext cx="4078224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4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Animal (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4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animal_id PK,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4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animal_name,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4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breed_id  FK -&gt; Breed,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4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species_id FK -&gt; Species,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4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owner_id  FK -&gt; Owner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4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4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animal_id -&gt; breed_id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4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-&gt; species_id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4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(transitive dependency)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623560" y="4023360"/>
            <a:ext cx="868680" cy="86868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5623560" y="402336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70" b="1" dirty="0">
                <a:solidFill>
                  <a:srgbClr val="0B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70" dirty="0"/>
          </a:p>
        </p:txBody>
      </p:sp>
      <p:sp>
        <p:nvSpPr>
          <p:cNvPr id="11" name="Shape 9"/>
          <p:cNvSpPr/>
          <p:nvPr/>
        </p:nvSpPr>
        <p:spPr>
          <a:xfrm>
            <a:off x="6675120" y="2240280"/>
            <a:ext cx="4937760" cy="3977640"/>
          </a:xfrm>
          <a:prstGeom prst="roundRect">
            <a:avLst>
              <a:gd name="adj" fmla="val 2299"/>
            </a:avLst>
          </a:prstGeom>
          <a:solidFill>
            <a:srgbClr val="E4F2EE"/>
          </a:solidFill>
          <a:ln/>
        </p:spPr>
      </p:sp>
      <p:sp>
        <p:nvSpPr>
          <p:cNvPr id="12" name="Text 10"/>
          <p:cNvSpPr/>
          <p:nvPr/>
        </p:nvSpPr>
        <p:spPr>
          <a:xfrm>
            <a:off x="6949440" y="239572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6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— normalized to 3NF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949440" y="2788920"/>
            <a:ext cx="4480560" cy="3291840"/>
          </a:xfrm>
          <a:prstGeom prst="roundRect">
            <a:avLst>
              <a:gd name="adj" fmla="val 2222"/>
            </a:avLst>
          </a:prstGeom>
          <a:solidFill>
            <a:srgbClr val="0B3B36"/>
          </a:solidFill>
          <a:ln/>
        </p:spPr>
      </p:sp>
      <p:sp>
        <p:nvSpPr>
          <p:cNvPr id="14" name="Text 12"/>
          <p:cNvSpPr/>
          <p:nvPr/>
        </p:nvSpPr>
        <p:spPr>
          <a:xfrm>
            <a:off x="7150608" y="2926080"/>
            <a:ext cx="4078224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4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Animal (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4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animal_id PK,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4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animal_name,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4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breed_id  FK -&gt; Breed,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4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owner_id  FK -&gt; Owner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4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4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Breed (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4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breed_id PK,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4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breed_name,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4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species_id FK -&gt; Species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4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4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species_id now reached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4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via Breed only.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C9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NON-KEY ATTRIBUTE DEPENDS ONLY ON ITS TABLE'S KEY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Dependencies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011680" y="146304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6E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owner_id → owner_name, phone, email, address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011680" y="192024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6E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species_id → species_name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237744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011680" y="237744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6E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breed_id → breed_name, species_id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48640" y="283464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011680" y="283464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6E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animal_id → animal_name, dob, gender, breed_id, owner_id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48640" y="329184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Veterinarian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011680" y="329184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6E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vet_id → vet_name, specialization, phone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48640" y="374904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011680" y="374904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6E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appointment_id → animal_id, vet_id, appt_date, appt_time, status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" y="420624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011680" y="420624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6E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consultation_id → appointment_id, consult_date, notes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172200" y="146304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635240" y="146304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6E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diagnosis_id → consultation_id, diagnosis_desc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172200" y="192024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635240" y="192024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6E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treatment_id → diagnosis_id, treatment_desc, treatment_date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172200" y="237744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635240" y="237744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6E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prescription_id → consultation_id, medicine_name, dosage, duration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172200" y="283464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635240" y="283464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6E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vaccination_id → animal_id, vaccine_name, date_given, next_due_date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172200" y="329184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635240" y="329184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6E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test_id → consultation_id, test_name, test_date, result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172200" y="374904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635240" y="374904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6E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bill_id → consultation_id, bill_date, total_amount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172200" y="420624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635240" y="420624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6E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payment_id → bill_id, payment_date, amount_paid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C9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CONCEPTUAL MODEL — UNCHANGED IN STRUCTURE, NOW BACKED BY A NORMALIZED (3NF) SCHEMA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Entity-Relationship Diagram</a:t>
            </a:r>
            <a:endParaRPr lang="en-US" sz="2800" dirty="0"/>
          </a:p>
        </p:txBody>
      </p:sp>
      <p:pic>
        <p:nvPicPr>
          <p:cNvPr id="4" name="Image 0" descr="/home/claude/vetdb2/er_diagra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331720" y="1417320"/>
            <a:ext cx="7498080" cy="5029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C9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RULE-BEARING TABLES (CONCISE VIEW)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Dictionary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4206240"/>
        </p:xfrm>
        <a:graphic>
          <a:graphicData uri="http://schemas.openxmlformats.org/drawingml/2006/table">
            <a:tbl>
              <a:tblPr/>
              <a:tblGrid>
                <a:gridCol w="2377440"/>
                <a:gridCol w="3383280"/>
                <a:gridCol w="2011680"/>
                <a:gridCol w="32918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Column(s)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Constraint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3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3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Animal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2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animal_id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3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Animal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2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animal_name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VARCHAR(50)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NULL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3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Animal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2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breed_id, owner_id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FK, NOT NULL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3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Appointment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2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appointment_id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3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Appointment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2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vet_id, appt_date, appt_time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(no overlap)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3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Vaccination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2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date_given, next_due_date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next_due &gt; given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3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2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dosage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DECIMAL(5,2)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dosage &gt; 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3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2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total_amount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DECIMAL(8,2)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NULL, CHECK ≥ 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3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2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amount_paid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DECIMAL(8,2)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Trigger-checked ≤ balance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dictionary (all 14 tables, all columns) is included in the written report.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C9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RULE MAPPED TO A CONCRETE SQL CONSTRAINT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DDL — Enforcing the 5 Business Rules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E4F2EE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645920"/>
            <a:ext cx="502920" cy="502920"/>
          </a:xfrm>
          <a:prstGeom prst="ellipse">
            <a:avLst/>
          </a:prstGeom>
          <a:solidFill>
            <a:srgbClr val="4C9285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45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30" dirty="0"/>
          </a:p>
        </p:txBody>
      </p:sp>
      <p:sp>
        <p:nvSpPr>
          <p:cNvPr id="7" name="Text 5"/>
          <p:cNvSpPr/>
          <p:nvPr/>
        </p:nvSpPr>
        <p:spPr>
          <a:xfrm>
            <a:off x="1508760" y="1563624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animal identity per owner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029200" y="1563624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6E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UNIQUE (owner_id, animal_name)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052560" y="1563624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Animal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404872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777240" y="2542032"/>
            <a:ext cx="502920" cy="502920"/>
          </a:xfrm>
          <a:prstGeom prst="ellipse">
            <a:avLst/>
          </a:prstGeom>
          <a:solidFill>
            <a:srgbClr val="4C9285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5420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30" dirty="0"/>
          </a:p>
        </p:txBody>
      </p:sp>
      <p:sp>
        <p:nvSpPr>
          <p:cNvPr id="13" name="Text 11"/>
          <p:cNvSpPr/>
          <p:nvPr/>
        </p:nvSpPr>
        <p:spPr>
          <a:xfrm>
            <a:off x="1508760" y="2459736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overlapping vet appointments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029200" y="2459736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6E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UNIQUE (vet_id, appt_date, appt_time)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052560" y="2459736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Appointment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30098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E4F2EE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" y="3438144"/>
            <a:ext cx="502920" cy="502920"/>
          </a:xfrm>
          <a:prstGeom prst="ellipse">
            <a:avLst/>
          </a:prstGeom>
          <a:solidFill>
            <a:srgbClr val="4C9285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4381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30" dirty="0"/>
          </a:p>
        </p:txBody>
      </p:sp>
      <p:sp>
        <p:nvSpPr>
          <p:cNvPr id="19" name="Text 17"/>
          <p:cNvSpPr/>
          <p:nvPr/>
        </p:nvSpPr>
        <p:spPr>
          <a:xfrm>
            <a:off x="1508760" y="3355848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vaccination dates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029200" y="3355848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6E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 (next_due_date &gt; date_given)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052560" y="3355848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Vaccination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419709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777240" y="4334256"/>
            <a:ext cx="502920" cy="502920"/>
          </a:xfrm>
          <a:prstGeom prst="ellipse">
            <a:avLst/>
          </a:prstGeom>
          <a:solidFill>
            <a:srgbClr val="4C9285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433425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30" dirty="0"/>
          </a:p>
        </p:txBody>
      </p:sp>
      <p:sp>
        <p:nvSpPr>
          <p:cNvPr id="25" name="Text 23"/>
          <p:cNvSpPr/>
          <p:nvPr/>
        </p:nvSpPr>
        <p:spPr>
          <a:xfrm>
            <a:off x="1508760" y="4251960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dosages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029200" y="4251960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6E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 (dosage &gt; 0)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052560" y="4251960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Prescription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509320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E4F2EE"/>
          </a:solidFill>
          <a:ln/>
        </p:spPr>
      </p:sp>
      <p:sp>
        <p:nvSpPr>
          <p:cNvPr id="29" name="Shape 27"/>
          <p:cNvSpPr/>
          <p:nvPr/>
        </p:nvSpPr>
        <p:spPr>
          <a:xfrm>
            <a:off x="777240" y="5230368"/>
            <a:ext cx="502920" cy="502920"/>
          </a:xfrm>
          <a:prstGeom prst="ellipse">
            <a:avLst/>
          </a:prstGeom>
          <a:solidFill>
            <a:srgbClr val="4C9285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" y="52303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30" dirty="0"/>
          </a:p>
        </p:txBody>
      </p:sp>
      <p:sp>
        <p:nvSpPr>
          <p:cNvPr id="31" name="Text 29"/>
          <p:cNvSpPr/>
          <p:nvPr/>
        </p:nvSpPr>
        <p:spPr>
          <a:xfrm>
            <a:off x="1508760" y="5148072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limits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5029200" y="5148072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6E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TRIGGER before INSERT on Payment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052560" y="5148072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sum(paid) &gt; bill total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C9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ANIMAL HISTORY · VACCINATION DUE · DOCTOR SCHEDULE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Queries I — Joins &amp; Subqueries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94960" cy="2331720"/>
          </a:xfrm>
          <a:prstGeom prst="roundRect">
            <a:avLst>
              <a:gd name="adj" fmla="val 3137"/>
            </a:avLst>
          </a:prstGeom>
          <a:solidFill>
            <a:srgbClr val="0B3B36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554480"/>
            <a:ext cx="4992624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E4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Animal history</a:t>
            </a:r>
            <a:endParaRPr lang="en-US" sz="1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E4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a.animal_name, c.consultation_date,</a:t>
            </a:r>
            <a:endParaRPr lang="en-US" sz="1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E4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d.diagnosis_description, t.treatment_description</a:t>
            </a:r>
            <a:endParaRPr lang="en-US" sz="1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E4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Animal a</a:t>
            </a:r>
            <a:endParaRPr lang="en-US" sz="1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E4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Appointment ap ON ap.animal_id = a.animal_id</a:t>
            </a:r>
            <a:endParaRPr lang="en-US" sz="1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E4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Consultation c ON c.appointment_id = ap.appointment_id</a:t>
            </a:r>
            <a:endParaRPr lang="en-US" sz="1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E4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 Diagnosis d ON d.consultation_id = c.consultation_id</a:t>
            </a:r>
            <a:endParaRPr lang="en-US" sz="1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E4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 Treatment t ON t.diagnosis_id = d.diagnosis_id</a:t>
            </a:r>
            <a:endParaRPr lang="en-US" sz="1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E4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a.animal_id = :id</a:t>
            </a:r>
            <a:endParaRPr lang="en-US" sz="1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E4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c.consultation_date;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126480" y="1417320"/>
            <a:ext cx="5486400" cy="2331720"/>
          </a:xfrm>
          <a:prstGeom prst="roundRect">
            <a:avLst>
              <a:gd name="adj" fmla="val 3137"/>
            </a:avLst>
          </a:prstGeom>
          <a:solidFill>
            <a:srgbClr val="0B3B36"/>
          </a:solidFill>
          <a:ln/>
        </p:spPr>
      </p:sp>
      <p:sp>
        <p:nvSpPr>
          <p:cNvPr id="7" name="Text 5"/>
          <p:cNvSpPr/>
          <p:nvPr/>
        </p:nvSpPr>
        <p:spPr>
          <a:xfrm>
            <a:off x="6327648" y="1554480"/>
            <a:ext cx="5084064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E4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Vaccination due (subquery-style filter)</a:t>
            </a:r>
            <a:endParaRPr lang="en-US" sz="1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E4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a.animal_name, o.owner_name,</a:t>
            </a:r>
            <a:endParaRPr lang="en-US" sz="1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E4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v.vaccine_name, v.next_due_date</a:t>
            </a:r>
            <a:endParaRPr lang="en-US" sz="1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E4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Vaccination v</a:t>
            </a:r>
            <a:endParaRPr lang="en-US" sz="1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E4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Animal a ON a.animal_id = v.animal_id</a:t>
            </a:r>
            <a:endParaRPr lang="en-US" sz="1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E4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Owner o  ON o.owner_id = a.owner_id</a:t>
            </a:r>
            <a:endParaRPr lang="en-US" sz="1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E4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v.next_due_date &lt;=</a:t>
            </a:r>
            <a:endParaRPr lang="en-US" sz="1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E4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CURRENT_DATE + INTERVAL '7 days';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3931920"/>
            <a:ext cx="11064240" cy="2148840"/>
          </a:xfrm>
          <a:prstGeom prst="roundRect">
            <a:avLst>
              <a:gd name="adj" fmla="val 3404"/>
            </a:avLst>
          </a:prstGeom>
          <a:solidFill>
            <a:srgbClr val="0B3B36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4069080"/>
            <a:ext cx="10661904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4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Doctor schedule for today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4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vt.vet_name, ap.appointment_time, a.animal_name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4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Appointment ap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4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Veterinarian vt ON vt.vet_id = ap.vet_id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4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Animal a ON a.animal_id = ap.animal_id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4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ap.appointment_date = CURRENT_DATE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4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vt.vet_name, ap.appointment_time;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C9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OUTSTANDING BILLS · REVENUE · PRESCRIPTIONS &amp; TESTS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Queries II — Aggregation &amp; Views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2788920"/>
          </a:xfrm>
          <a:prstGeom prst="roundRect">
            <a:avLst>
              <a:gd name="adj" fmla="val 2623"/>
            </a:avLst>
          </a:prstGeom>
          <a:solidFill>
            <a:srgbClr val="0B3B36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554480"/>
            <a:ext cx="5084064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E4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Outstanding bills (join + aggregation + HAVING)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E4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b.bill_id, a.animal_name, b.total_amount,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E4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b.total_amount - COALESCE(SUM(p.amount_paid),0) AS balance_due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E4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Bill b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E4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Consultation c ON c.consultation_id = b.consultation_id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E4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Appointment ap ON ap.appointment_id = c.appointment_id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E4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Animal a ON a.animal_id = ap.animal_id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E4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 Payment p ON p.bill_id = b.bill_id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E4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b.bill_id, a.animal_name, b.total_amount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E4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HAVING b.total_amount - COALESCE(SUM(p.amount_paid),0) &gt; 0;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126480" y="1417320"/>
            <a:ext cx="5486400" cy="2788920"/>
          </a:xfrm>
          <a:prstGeom prst="roundRect">
            <a:avLst>
              <a:gd name="adj" fmla="val 2623"/>
            </a:avLst>
          </a:prstGeom>
          <a:solidFill>
            <a:srgbClr val="0B3B36"/>
          </a:solidFill>
          <a:ln/>
        </p:spPr>
      </p:sp>
      <p:sp>
        <p:nvSpPr>
          <p:cNvPr id="7" name="Text 5"/>
          <p:cNvSpPr/>
          <p:nvPr/>
        </p:nvSpPr>
        <p:spPr>
          <a:xfrm>
            <a:off x="6327648" y="1554480"/>
            <a:ext cx="5084064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E4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Monthly revenue view</a:t>
            </a:r>
            <a:endParaRPr lang="en-US" sz="1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E4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VIEW MonthlyRevenue AS</a:t>
            </a:r>
            <a:endParaRPr lang="en-US" sz="1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E4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DATE_TRUNC('month', b.bill_date) AS month,</a:t>
            </a:r>
            <a:endParaRPr lang="en-US" sz="1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E4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SUM(b.total_amount) AS revenue</a:t>
            </a:r>
            <a:endParaRPr lang="en-US" sz="1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E4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Bill b</a:t>
            </a:r>
            <a:endParaRPr lang="en-US" sz="1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E4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DATE_TRUNC('month', b.bill_date);</a:t>
            </a:r>
            <a:endParaRPr lang="en-US" sz="1000" dirty="0"/>
          </a:p>
          <a:p>
            <a:pPr indent="0" marL="0">
              <a:lnSpc>
                <a:spcPct val="118000"/>
              </a:lnSpc>
              <a:buNone/>
            </a:pPr>
            <a:endParaRPr lang="en-US" sz="1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E4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MonthlyRevenue</a:t>
            </a:r>
            <a:endParaRPr lang="en-US" sz="1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E4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month DESC;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4434840"/>
            <a:ext cx="11064240" cy="1920240"/>
          </a:xfrm>
          <a:prstGeom prst="roundRect">
            <a:avLst>
              <a:gd name="adj" fmla="val 3810"/>
            </a:avLst>
          </a:prstGeom>
          <a:solidFill>
            <a:srgbClr val="0B3B36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4572000"/>
            <a:ext cx="1066190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4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Prescriptions &amp; tests per animal (join)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4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a.animal_name, pr.medicine_name, pr.dosage,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4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t.test_name, t.result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4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Animal a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4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Appointment ap ON ap.animal_id = a.animal_id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4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Consultation c ON c.appointment_id = ap.appointment_id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4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 Prescription pr ON pr.consultation_id = c.consultation_id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4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 Test t ON t.consultation_id = c.consultation_id;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C9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REVIEW 2 FITS 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 &amp; Next Steps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280160" y="2331720"/>
            <a:ext cx="9601200" cy="0"/>
          </a:xfrm>
          <a:prstGeom prst="line">
            <a:avLst/>
          </a:prstGeom>
          <a:noFill/>
          <a:ln w="38100">
            <a:solidFill>
              <a:srgbClr val="A8D5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08760" y="2148840"/>
            <a:ext cx="365760" cy="365760"/>
          </a:xfrm>
          <a:prstGeom prst="ellipse">
            <a:avLst/>
          </a:prstGeom>
          <a:solidFill>
            <a:srgbClr val="4C9285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1371600"/>
            <a:ext cx="1371600" cy="685800"/>
          </a:xfrm>
          <a:prstGeom prst="roundRect">
            <a:avLst>
              <a:gd name="adj" fmla="val 10667"/>
            </a:avLst>
          </a:prstGeom>
          <a:solidFill>
            <a:srgbClr val="E4F2EE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37160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7432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74920" y="2148840"/>
            <a:ext cx="365760" cy="365760"/>
          </a:xfrm>
          <a:prstGeom prst="ellipse">
            <a:avLst/>
          </a:prstGeom>
          <a:solidFill>
            <a:srgbClr val="E8A33D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1371600"/>
            <a:ext cx="1371600" cy="685800"/>
          </a:xfrm>
          <a:prstGeom prst="roundRect">
            <a:avLst>
              <a:gd name="adj" fmla="val 10667"/>
            </a:avLst>
          </a:prstGeom>
          <a:solidFill>
            <a:srgbClr val="0B3B36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137160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114800" y="27432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641080" y="2148840"/>
            <a:ext cx="365760" cy="365760"/>
          </a:xfrm>
          <a:prstGeom prst="ellipse">
            <a:avLst/>
          </a:prstGeom>
          <a:solidFill>
            <a:srgbClr val="A8D5C9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38160" y="1371600"/>
            <a:ext cx="1371600" cy="685800"/>
          </a:xfrm>
          <a:prstGeom prst="roundRect">
            <a:avLst>
              <a:gd name="adj" fmla="val 10667"/>
            </a:avLst>
          </a:prstGeom>
          <a:solidFill>
            <a:srgbClr val="E4F2EE"/>
          </a:solidFill>
          <a:ln/>
        </p:spPr>
      </p:sp>
      <p:sp>
        <p:nvSpPr>
          <p:cNvPr id="15" name="Text 13"/>
          <p:cNvSpPr/>
          <p:nvPr/>
        </p:nvSpPr>
        <p:spPr>
          <a:xfrm>
            <a:off x="8138160" y="137160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680960" y="27432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16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33832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4C9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 DELIVERABLES — COMPLETE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3840480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6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" y="384048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normalized to 3NF; functional dependencies documented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4279392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6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68680" y="4279392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Concise data dictionary for all 14 tables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8640" y="4718304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6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68680" y="4718304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 scripts enforcing all 5 business rules (UNIQUE, CHECK, trigger)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5157216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6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68680" y="5157216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 populated across all tables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48640" y="5596128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6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68680" y="5596128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queries: joins, subqueries, aggregation, and a working view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6080760"/>
            <a:ext cx="11064240" cy="548640"/>
          </a:xfrm>
          <a:prstGeom prst="roundRect">
            <a:avLst>
              <a:gd name="adj" fmla="val 13333"/>
            </a:avLst>
          </a:prstGeom>
          <a:solidFill>
            <a:srgbClr val="2B6E62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608076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 — Review 3 (Week 16):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Java/Python application with CRUD, final demo, report &amp; viva.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2026-09-21T04:51:19Z</dcterms:created>
  <dcterms:modified xsi:type="dcterms:W3CDTF">2026-09-21T04:51:19Z</dcterms:modified>
</cp:coreProperties>
</file>